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89" r:id="rId4"/>
    <p:sldId id="290" r:id="rId5"/>
    <p:sldId id="291" r:id="rId6"/>
    <p:sldId id="293" r:id="rId7"/>
    <p:sldId id="294" r:id="rId8"/>
    <p:sldId id="259" r:id="rId9"/>
    <p:sldId id="258" r:id="rId10"/>
    <p:sldId id="292" r:id="rId11"/>
    <p:sldId id="295" r:id="rId12"/>
    <p:sldId id="296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97" r:id="rId33"/>
    <p:sldId id="279" r:id="rId34"/>
    <p:sldId id="298" r:id="rId35"/>
    <p:sldId id="299" r:id="rId36"/>
    <p:sldId id="300" r:id="rId37"/>
    <p:sldId id="301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8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925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4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 · MULTI-FRAMEWORK BACKEND ENGINEERING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Core &amp; Security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606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· Dependency Injection · REST · JPA · Validation · Spring Security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5727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&amp; Dependency Injection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920240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Spring creates and wires your objects, instead of you doing it by hand.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4871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Fundamentals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834640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HTTP request becomes Java code, and how CRUD maps to HTTP methods.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4015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&amp; Relational Persistence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749040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repositories, and the full CRUD flow against a relational database.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159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4663440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bad input before it reaches your business logic or database.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7608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276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52303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5577840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password hashing, and a full JWT-based login flow.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41863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400" dirty="0">
                <a:solidFill>
                  <a:srgbClr val="232A34"/>
                </a:solidFill>
                <a:latin typeface="Aptos"/>
              </a:rPr>
              <a:t>What Is Spring?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A34"/>
                </a:solidFill>
                <a:latin typeface="Aptos"/>
              </a:rPr>
              <a:t>A Java framework and ecosystem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400" dirty="0">
                <a:solidFill>
                  <a:srgbClr val="232A34"/>
                </a:solidFill>
                <a:latin typeface="Aptos"/>
              </a:rPr>
              <a:t>Not one library — a whole family of tools that work together.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232A34"/>
                </a:solidFill>
                <a:latin typeface="Aptos"/>
              </a:rPr>
              <a:t>Core ideas: IoC, Dependency Injection, web, data, security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400" dirty="0">
                <a:solidFill>
                  <a:srgbClr val="232A34"/>
                </a:solidFill>
                <a:latin typeface="Aptos"/>
              </a:rPr>
              <a:t>These pieces combine to handle almost every backend concern.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A34"/>
                </a:solidFill>
                <a:latin typeface="Aptos"/>
              </a:rPr>
              <a:t>The Spring container manages objects called Beans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400" dirty="0">
                <a:solidFill>
                  <a:srgbClr val="232A34"/>
                </a:solidFill>
                <a:latin typeface="Aptos"/>
              </a:rPr>
              <a:t>You describe what you need; Spring creates and connects it for you.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A34"/>
                </a:solidFill>
                <a:latin typeface="Aptos"/>
              </a:rPr>
              <a:t>Understand the architecture before memorizing annotations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400" dirty="0">
                <a:solidFill>
                  <a:srgbClr val="232A34"/>
                </a:solidFill>
                <a:latin typeface="Aptos"/>
              </a:rPr>
              <a:t>Annotations are shortcuts for concepts — the concepts matter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387856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400" dirty="0">
                <a:solidFill>
                  <a:srgbClr val="232A34"/>
                </a:solidFill>
                <a:latin typeface="Aptos"/>
              </a:rPr>
              <a:t>What Is Spring Boot?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A34"/>
                </a:solidFill>
                <a:latin typeface="Aptos"/>
              </a:rPr>
              <a:t>Simplifies Spring application setup</a:t>
            </a:r>
            <a:r>
              <a:rPr lang="en-IN" sz="2400" dirty="0">
                <a:solidFill>
                  <a:srgbClr val="232A34"/>
                </a:solidFill>
                <a:latin typeface="Aptos"/>
              </a:rPr>
              <a:t>-</a:t>
            </a:r>
            <a:r>
              <a:rPr sz="2400" dirty="0">
                <a:solidFill>
                  <a:srgbClr val="232A34"/>
                </a:solidFill>
                <a:latin typeface="Aptos"/>
              </a:rPr>
              <a:t>Less configuration, more sensible defaults out of the box.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A34"/>
                </a:solidFill>
                <a:latin typeface="Aptos"/>
              </a:rPr>
              <a:t>Starters bring in required functionality</a:t>
            </a:r>
            <a:r>
              <a:rPr lang="en-IN" sz="2400" dirty="0">
                <a:solidFill>
                  <a:srgbClr val="232A34"/>
                </a:solidFill>
                <a:latin typeface="Aptos"/>
              </a:rPr>
              <a:t>- </a:t>
            </a:r>
            <a:r>
              <a:rPr sz="2400" dirty="0">
                <a:solidFill>
                  <a:srgbClr val="232A34"/>
                </a:solidFill>
                <a:latin typeface="Aptos"/>
              </a:rPr>
              <a:t>One dependency (e.g. spring-boot-starter-web) pulls in everything that feature needs.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A34"/>
                </a:solidFill>
                <a:latin typeface="Aptos"/>
              </a:rPr>
              <a:t>Auto-configuration reduces repetitive setup</a:t>
            </a:r>
            <a:r>
              <a:rPr lang="en-IN" sz="2400" dirty="0">
                <a:solidFill>
                  <a:srgbClr val="232A34"/>
                </a:solidFill>
                <a:latin typeface="Aptos"/>
              </a:rPr>
              <a:t>- </a:t>
            </a:r>
            <a:r>
              <a:rPr sz="2400" dirty="0">
                <a:solidFill>
                  <a:srgbClr val="232A34"/>
                </a:solidFill>
                <a:latin typeface="Aptos"/>
              </a:rPr>
              <a:t>Spring Boot guesses sensible configuration based on what's on your </a:t>
            </a:r>
            <a:r>
              <a:rPr sz="2400" dirty="0" err="1">
                <a:solidFill>
                  <a:srgbClr val="232A34"/>
                </a:solidFill>
                <a:latin typeface="Aptos"/>
              </a:rPr>
              <a:t>classpath</a:t>
            </a:r>
            <a:r>
              <a:rPr sz="2400" dirty="0">
                <a:solidFill>
                  <a:srgbClr val="232A34"/>
                </a:solidFill>
                <a:latin typeface="Aptos"/>
              </a:rPr>
              <a:t>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A34"/>
                </a:solidFill>
                <a:latin typeface="Aptos"/>
              </a:rPr>
              <a:t>An embedded web server lets it run directly</a:t>
            </a:r>
            <a:r>
              <a:rPr lang="en-IN" sz="2400" dirty="0">
                <a:solidFill>
                  <a:srgbClr val="232A34"/>
                </a:solidFill>
                <a:latin typeface="Aptos"/>
              </a:rPr>
              <a:t>- </a:t>
            </a:r>
            <a:r>
              <a:rPr sz="2400" dirty="0">
                <a:solidFill>
                  <a:srgbClr val="232A34"/>
                </a:solidFill>
                <a:latin typeface="Aptos"/>
              </a:rPr>
              <a:t>No separate Tomcat install — just run the app and it's already listening for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80586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Create the Project (Spring </a:t>
            </a:r>
            <a:r>
              <a:rPr sz="2000" dirty="0" err="1">
                <a:solidFill>
                  <a:srgbClr val="232A34"/>
                </a:solidFill>
                <a:latin typeface="Aptos"/>
              </a:rPr>
              <a:t>Initializr</a:t>
            </a:r>
            <a:r>
              <a:rPr sz="2000" dirty="0">
                <a:solidFill>
                  <a:srgbClr val="232A34"/>
                </a:solidFill>
                <a:latin typeface="Aptos"/>
              </a:rPr>
              <a:t>)</a:t>
            </a: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sz="2000" dirty="0">
              <a:solidFill>
                <a:srgbClr val="232A3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9DA588-F456-5FA5-D505-2812C8B0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3" y="2244664"/>
            <a:ext cx="10954313" cy="2368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STARTUP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45570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b="1" dirty="0">
                <a:solidFill>
                  <a:srgbClr val="1B2D4B"/>
                </a:solidFill>
                <a:latin typeface="Consolas"/>
              </a:rPr>
              <a:t>@SpringBootApplication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A34"/>
                </a:solidFill>
                <a:latin typeface="Aptos"/>
              </a:rPr>
              <a:t>Marks the main Spring Boot application class</a:t>
            </a:r>
            <a:r>
              <a:rPr lang="en-IN" dirty="0">
                <a:solidFill>
                  <a:srgbClr val="232A34"/>
                </a:solidFill>
                <a:latin typeface="Aptos"/>
              </a:rPr>
              <a:t>- </a:t>
            </a:r>
            <a:r>
              <a:rPr dirty="0">
                <a:solidFill>
                  <a:srgbClr val="232A34"/>
                </a:solidFill>
                <a:latin typeface="Aptos"/>
              </a:rPr>
              <a:t>This is the one annotation that kicks everything else off.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dirty="0">
              <a:solidFill>
                <a:srgbClr val="232A34"/>
              </a:solidFill>
              <a:latin typeface="Aptos"/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A34"/>
                </a:solidFill>
                <a:latin typeface="Aptos"/>
              </a:rPr>
              <a:t>Spring uses it as the entry point for startup</a:t>
            </a:r>
            <a:r>
              <a:rPr lang="en-IN" dirty="0">
                <a:solidFill>
                  <a:srgbClr val="232A34"/>
                </a:solidFill>
                <a:latin typeface="Aptos"/>
              </a:rPr>
              <a:t>- </a:t>
            </a:r>
            <a:r>
              <a:rPr dirty="0">
                <a:solidFill>
                  <a:srgbClr val="232A34"/>
                </a:solidFill>
                <a:latin typeface="Aptos"/>
              </a:rPr>
              <a:t>It's where </a:t>
            </a:r>
            <a:r>
              <a:rPr dirty="0" err="1">
                <a:solidFill>
                  <a:srgbClr val="232A34"/>
                </a:solidFill>
                <a:latin typeface="Aptos"/>
              </a:rPr>
              <a:t>SpringApplication.run</a:t>
            </a:r>
            <a:r>
              <a:rPr dirty="0">
                <a:solidFill>
                  <a:srgbClr val="232A34"/>
                </a:solidFill>
                <a:latin typeface="Aptos"/>
              </a:rPr>
              <a:t>() is called from main().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dirty="0">
              <a:solidFill>
                <a:srgbClr val="232A34"/>
              </a:solidFill>
              <a:latin typeface="Aptos"/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A34"/>
                </a:solidFill>
                <a:latin typeface="Aptos"/>
              </a:rPr>
              <a:t>Component scanning discovers your components</a:t>
            </a:r>
            <a:r>
              <a:rPr lang="en-IN" dirty="0">
                <a:solidFill>
                  <a:srgbClr val="232A34"/>
                </a:solidFill>
                <a:latin typeface="Aptos"/>
              </a:rPr>
              <a:t>- </a:t>
            </a:r>
            <a:r>
              <a:rPr dirty="0">
                <a:solidFill>
                  <a:srgbClr val="232A34"/>
                </a:solidFill>
                <a:latin typeface="Aptos"/>
              </a:rPr>
              <a:t>Spring automatically finds your Controllers, Services, and Repositories nearby.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dirty="0">
              <a:solidFill>
                <a:srgbClr val="232A34"/>
              </a:solidFill>
              <a:latin typeface="Aptos"/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A34"/>
                </a:solidFill>
                <a:latin typeface="Aptos"/>
              </a:rPr>
              <a:t>Auto-configuration sets up infrastructure</a:t>
            </a:r>
            <a:r>
              <a:rPr lang="en-IN" dirty="0">
                <a:solidFill>
                  <a:srgbClr val="232A34"/>
                </a:solidFill>
                <a:latin typeface="Aptos"/>
              </a:rPr>
              <a:t>-</a:t>
            </a:r>
            <a:r>
              <a:rPr dirty="0">
                <a:solidFill>
                  <a:srgbClr val="232A34"/>
                </a:solidFill>
                <a:latin typeface="Aptos"/>
              </a:rPr>
              <a:t>Database connections, web server settings, and more are configured automatically.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dirty="0">
              <a:solidFill>
                <a:srgbClr val="232A34"/>
              </a:solidFill>
              <a:latin typeface="Aptos"/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A34"/>
                </a:solidFill>
                <a:latin typeface="Aptos"/>
              </a:rPr>
              <a:t>The </a:t>
            </a:r>
            <a:r>
              <a:rPr dirty="0" err="1">
                <a:solidFill>
                  <a:srgbClr val="232A34"/>
                </a:solidFill>
                <a:latin typeface="Aptos"/>
              </a:rPr>
              <a:t>ApplicationContext</a:t>
            </a:r>
            <a:r>
              <a:rPr dirty="0">
                <a:solidFill>
                  <a:srgbClr val="232A34"/>
                </a:solidFill>
                <a:latin typeface="Aptos"/>
              </a:rPr>
              <a:t> is created and manages Beans</a:t>
            </a:r>
            <a:r>
              <a:rPr lang="en-IN" dirty="0">
                <a:solidFill>
                  <a:srgbClr val="232A34"/>
                </a:solidFill>
                <a:latin typeface="Aptos"/>
              </a:rPr>
              <a:t>-</a:t>
            </a:r>
            <a:r>
              <a:rPr dirty="0">
                <a:solidFill>
                  <a:srgbClr val="232A34"/>
                </a:solidFill>
                <a:latin typeface="Aptos"/>
              </a:rPr>
              <a:t>This is the running container holding every object Spring controls.</a:t>
            </a:r>
            <a:endParaRPr sz="1600" dirty="0">
              <a:solidFill>
                <a:srgbClr val="232A3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IOC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29580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What Is a Bean?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A Bean is simply an object that Spring creates and manages for you — instead of you writing new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SomeClass</a:t>
            </a:r>
            <a:r>
              <a:rPr sz="1600" dirty="0">
                <a:solidFill>
                  <a:srgbClr val="232A34"/>
                </a:solidFill>
                <a:latin typeface="Aptos"/>
              </a:rPr>
              <a:t>() yourself.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50" b="1" dirty="0">
                <a:solidFill>
                  <a:srgbClr val="232A34"/>
                </a:solidFill>
                <a:latin typeface="Aptos"/>
              </a:rPr>
              <a:t>Examples in this app: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Spring creates and connects these three objects to each other through the IoC container — you never write "new" for any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91CD85-1247-120F-CABC-1AAF6AAA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62" y="2705062"/>
            <a:ext cx="7601341" cy="723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— INVERSION OF CONTROL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Creates Your Objects?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CEB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JAVA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084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controls object creation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6032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1B24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StudentService service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new StudentService();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490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responsible for creating, and later wiring, every dependency by hand.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7F2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/ IoC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controls object creation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56032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B24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274320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nowhere in your code: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StudentService()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Spring creates it and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injects it where needed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251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object creation has moved OUT of your code and INTO the Spring container. That's the "inversion."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Refresher: Spring Boot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5727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simplifies Spring application setup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9202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configuration, sensible defaults out of the box.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53288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 bring in required functionality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8803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dependency (e.g. spring-boot-starter-web) pulls in everything that feature needs.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49300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web server lets it run directly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40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server install — just run the app and it's already listening.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45312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Spring container manages objects called Beans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48006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need; Spring creates and connects it for you — this is IoC, next up.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462735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Project Structure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student-records-spring/
──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src</a:t>
            </a:r>
            <a:r>
              <a:rPr sz="1600" dirty="0">
                <a:solidFill>
                  <a:srgbClr val="232A34"/>
                </a:solidFill>
                <a:latin typeface="Aptos"/>
              </a:rPr>
              <a:t>/main/java/com/example/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studentrecords</a:t>
            </a:r>
            <a:r>
              <a:rPr sz="1600" dirty="0">
                <a:solidFill>
                  <a:srgbClr val="232A34"/>
                </a:solidFill>
                <a:latin typeface="Aptos"/>
              </a:rPr>
              <a:t>/
</a:t>
            </a:r>
            <a:r>
              <a:rPr lang="en-IN" sz="1600" dirty="0">
                <a:solidFill>
                  <a:srgbClr val="232A34"/>
                </a:solidFill>
                <a:latin typeface="Aptos"/>
              </a:rPr>
              <a:t>│</a:t>
            </a:r>
            <a:r>
              <a:rPr sz="1600" dirty="0">
                <a:solidFill>
                  <a:srgbClr val="232A34"/>
                </a:solidFill>
                <a:latin typeface="Aptos"/>
              </a:rPr>
              <a:t>   ── StudentRecordsApplication.java
│   ── controller/
│   ── service/
│   ── repository/
│   ── document/
│   └──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dto</a:t>
            </a:r>
            <a:r>
              <a:rPr sz="1600" dirty="0">
                <a:solidFill>
                  <a:srgbClr val="232A34"/>
                </a:solidFill>
                <a:latin typeface="Aptos"/>
              </a:rPr>
              <a:t>/
──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src</a:t>
            </a:r>
            <a:r>
              <a:rPr sz="1600" dirty="0">
                <a:solidFill>
                  <a:srgbClr val="232A34"/>
                </a:solidFill>
                <a:latin typeface="Aptos"/>
              </a:rPr>
              <a:t>/main/resources/
│   └──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application.properties</a:t>
            </a:r>
            <a:r>
              <a:rPr sz="1600" dirty="0">
                <a:solidFill>
                  <a:srgbClr val="232A34"/>
                </a:solidFill>
                <a:latin typeface="Aptos"/>
              </a:rPr>
              <a:t>
└── pom.xml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Each folder is one responsibility: controller = HTTP, service = business logic, repository = database, document = persistence shape,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dto</a:t>
            </a:r>
            <a:r>
              <a:rPr sz="1600" dirty="0">
                <a:solidFill>
                  <a:srgbClr val="232A34"/>
                </a:solidFill>
                <a:latin typeface="Aptos"/>
              </a:rPr>
              <a:t> = API input/output.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IOC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29580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What Is a Bean?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A Bean is simply an object that Spring creates and manages for you — instead of you writing new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SomeClass</a:t>
            </a:r>
            <a:r>
              <a:rPr sz="1600" dirty="0">
                <a:solidFill>
                  <a:srgbClr val="232A34"/>
                </a:solidFill>
                <a:latin typeface="Aptos"/>
              </a:rPr>
              <a:t>() yourself.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50" b="1" dirty="0">
                <a:solidFill>
                  <a:srgbClr val="232A34"/>
                </a:solidFill>
                <a:latin typeface="Aptos"/>
              </a:rPr>
              <a:t>Examples in this app: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Spring creates and connects these three objects to each other through the IoC container — you never write "new" for any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91CD85-1247-120F-CABC-1AAF6AAA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62" y="2705062"/>
            <a:ext cx="7601341" cy="7239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IOC — INVERSION OF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420724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Who Creates Your Objects?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TRADITIONAL JAVA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Your code controls object creation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 err="1">
                <a:solidFill>
                  <a:srgbClr val="232A34"/>
                </a:solidFill>
                <a:latin typeface="Aptos"/>
              </a:rPr>
              <a:t>StudentService</a:t>
            </a:r>
            <a:r>
              <a:rPr sz="1600" dirty="0">
                <a:solidFill>
                  <a:srgbClr val="232A34"/>
                </a:solidFill>
                <a:latin typeface="Aptos"/>
              </a:rPr>
              <a:t> service
    = new </a:t>
            </a:r>
            <a:r>
              <a:rPr sz="1600" dirty="0" err="1">
                <a:solidFill>
                  <a:srgbClr val="232A34"/>
                </a:solidFill>
                <a:latin typeface="Aptos"/>
              </a:rPr>
              <a:t>StudentService</a:t>
            </a:r>
            <a:r>
              <a:rPr sz="1600" dirty="0">
                <a:solidFill>
                  <a:srgbClr val="232A34"/>
                </a:solidFill>
                <a:latin typeface="Aptos"/>
              </a:rPr>
              <a:t>();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You are responsible for creating, and later wiring, every dependency by hand.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SPRING / IoC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The container controls object creation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dirty="0">
                <a:solidFill>
                  <a:srgbClr val="1B2D4B"/>
                </a:solidFill>
                <a:latin typeface="Consolas"/>
              </a:rPr>
              <a:t>// nowhere in your code:
// new </a:t>
            </a:r>
            <a:r>
              <a:rPr sz="1350" dirty="0" err="1">
                <a:solidFill>
                  <a:srgbClr val="1B2D4B"/>
                </a:solidFill>
                <a:latin typeface="Consolas"/>
              </a:rPr>
              <a:t>StudentService</a:t>
            </a:r>
            <a:r>
              <a:rPr sz="1350" dirty="0">
                <a:solidFill>
                  <a:srgbClr val="1B2D4B"/>
                </a:solidFill>
                <a:latin typeface="Consolas"/>
              </a:rPr>
              <a:t>()
// Spring creates it and
// injects it where needed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Control over object creation has moved OUT of your code and INTO the Spring container. That's the "inversion."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— INVERSION OF CONTROL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IoC Startup Flow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91356" y="164592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91356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2103120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91356" y="223113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6DB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91356" y="2231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SpringApplication.run()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4476" y="2688336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91356" y="281635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91356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created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4476" y="3273552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1356" y="340156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6DB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91356" y="34015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scanning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4476" y="3858768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1356" y="398678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91356" y="39867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 created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4476" y="4443984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91356" y="45720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6DB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91356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injected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4476" y="5029200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91356" y="515721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91356" y="51572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server starts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4476" y="5614416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991356" y="574243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91356" y="5742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ready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entire sequence happens once, automatically, every time the app starts.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Supplying Dependencies From Outside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5727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means supplying a required dependency from outside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9202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doesn't build what it needs — it receives it, already built.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53288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StudentController depends on StudentService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8803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needs a working service to actually do anything.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49300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depends on StudentRepository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40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needs a working repository to reach the database.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45312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resolves and injects all of these automatically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48006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the dependency; Spring figures out the wiring.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 Injection in Practice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1549667"/>
            <a:ext cx="9601200" cy="3662413"/>
          </a:xfrm>
          <a:prstGeom prst="roundRect">
            <a:avLst>
              <a:gd name="adj" fmla="val 2105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2136808"/>
            <a:ext cx="9144000" cy="2892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
@RequestMapping("/students")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StudentController {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StudentService service;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StudentController(StudentService service) {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this.service = service;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"new StudentService()" anywhere here. Spring sees the constructor parameter and supplies a ready-made bean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FUNDAMENTALS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REST Request Travels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91356" y="164592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91356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(HTTP request)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2103120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91356" y="223113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6DB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91356" y="2231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4476" y="2688336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91356" y="281635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91356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4476" y="3273552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1356" y="340156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6DB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91356" y="34015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4476" y="3858768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1356" y="398678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91356" y="39867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4476" y="4443984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91356" y="45720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6DB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91356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4476" y="5029200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91356" y="515721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91356" y="51572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bubbles back up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4476" y="5614416"/>
            <a:ext cx="0" cy="128016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991356" y="574243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91356" y="5742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only talks to its direct neighbor — the Controller never touches the database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FUNDAMENTALS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and CRUD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798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+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/students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brand-new student record.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/students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every student in the database.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/students/{id}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 single student by their id.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/students/{id}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an existing student's details.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/students/{id}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student record permanently.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mapping is the backbone of REST: the HTTP verb tells you the intent before you even read the path.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FUNDAMENTALS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Variables vs. Query Parameters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1F7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Variable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40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resource — part of the URL path itself.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1B24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063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/students/42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 Long id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to say "give me exactly this one student."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1F7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240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or narrows results — appended after a ? in the URL.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88036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1B24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063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/students/search?course=CSE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@RequestParam String course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to say "give me every student matching this filter."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FUNDAMENTALS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Body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737360" y="1691640"/>
            <a:ext cx="8686800" cy="3017520"/>
          </a:xfrm>
          <a:prstGeom prst="roundRect">
            <a:avLst>
              <a:gd name="adj" fmla="val 2424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5960" y="2165684"/>
            <a:ext cx="8229600" cy="2360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/students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"Anita",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20,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"course": "CSE",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"anita@example.com"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@RequestBody is what converts this incoming JSON into an actual Java object your Controller can work with — you never parse JSON by hand.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&amp; PERSISTENCE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JPA?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5727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= Java Persistence API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9202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way to map Java objects onto rows in a relational database.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53288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is the most common implementation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8803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engine that turns your JPA annotations into real SQL.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49300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class represents one database table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40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of the class becomes one row.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45312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builds on top of plain JPA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48006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 a repository interface with CRUD methods generated for you — no SQL to write for the basics.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&amp; PERSISTENCE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Entity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991402"/>
            <a:ext cx="9601200" cy="5409398"/>
          </a:xfrm>
          <a:prstGeom prst="roundRect">
            <a:avLst>
              <a:gd name="adj" fmla="val 1455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1554480"/>
            <a:ext cx="91440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@Table(name = "students")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 {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@Id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@GeneratedValue(strategy = GenerationType.IDENTITY)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Long id;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name;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Integer age;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course;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email;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getters and setters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&amp; PERSISTENCE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JpaRepository — CRUD for Free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1691640"/>
            <a:ext cx="9966960" cy="1188720"/>
          </a:xfrm>
          <a:prstGeom prst="roundRect">
            <a:avLst>
              <a:gd name="adj" fmla="val 6154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18745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StudentRepository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extends JpaRepository&lt;Student, Long&gt; {}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extending this interface gives you: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27048" y="361188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7048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35808" y="3611880"/>
            <a:ext cx="1527048" cy="502920"/>
          </a:xfrm>
          <a:prstGeom prst="roundRect">
            <a:avLst>
              <a:gd name="adj" fmla="val 50000"/>
            </a:avLst>
          </a:prstGeom>
          <a:solidFill>
            <a:srgbClr val="6DB3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35808" y="361188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findAll()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91456" y="36118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91456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findById()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65976" y="3611880"/>
            <a:ext cx="1883664" cy="502920"/>
          </a:xfrm>
          <a:prstGeom prst="roundRect">
            <a:avLst>
              <a:gd name="adj" fmla="val 50000"/>
            </a:avLst>
          </a:prstGeom>
          <a:solidFill>
            <a:srgbClr val="6DB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65976" y="36118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deleteById()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78240" y="3611880"/>
            <a:ext cx="1883664" cy="5029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0" y="36118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existsById()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5720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implementation code required — Spring Data JPA generates working CRUD methods for you at runtime, just from this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&amp; PERSISTENCE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Queries From Method Names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1737360"/>
            <a:ext cx="9601200" cy="2743200"/>
          </a:xfrm>
          <a:prstGeom prst="roundRect">
            <a:avLst>
              <a:gd name="adj" fmla="val 2667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1920240"/>
            <a:ext cx="9144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StudentRepository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extends JpaRepository&lt;Student, Long&gt; {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List&lt;Student&gt; findByCourse(String course);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Optional&lt;Student&gt; findByEmail(String email);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846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reads the method name itself — "findByCourse" — and builds the matching SQL query automatically. No query code to write.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&amp; PERSISTENCE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a Relational Database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1920240"/>
            <a:ext cx="9601200" cy="2194560"/>
          </a:xfrm>
          <a:prstGeom prst="roundRect">
            <a:avLst>
              <a:gd name="adj" fmla="val 3333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210312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spring.datasource.url=jdbc:postgresql://localhost:5432/student_records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spring.datasource.username=postgres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spring.datasource.password=your_password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spring.jpa.hibernate.ddl-auto=update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spring.jpa.show-sql=true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389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goes in application.properties. ddl-auto=update lets Hibernate create/update tables from your Entity classes automatically — handy for learning, worth tightening for production.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483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Service Layer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89272" y="1049154"/>
            <a:ext cx="10092088" cy="5305926"/>
          </a:xfrm>
          <a:prstGeom prst="roundRect">
            <a:avLst>
              <a:gd name="adj" fmla="val 1509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1691640"/>
            <a:ext cx="9144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
public class StudentService {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StudentRepository repository;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StudentService(StudentRepository repository) {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this.repository = repository;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 create(Student student) {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repository.save(student);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List&lt;Student&gt; getAll() {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repository.findAll();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DETAIL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— Every Step, in Order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91356" y="1600200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91356" y="16002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/students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4476" y="2002536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91356" y="2093976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91356" y="20939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4476" y="2496312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91356" y="2587752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1F7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91356" y="258775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@RequestBody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4476" y="2990088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1356" y="3081528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91356" y="30815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object / DTO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4476" y="3483864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1356" y="3575304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91356" y="35753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4476" y="3977640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91356" y="4069080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91356" y="40690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94476" y="4471416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91356" y="4562856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1F7A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91356" y="456285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JpaRepository.save()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4476" y="4965192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991356" y="5056632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991356" y="50566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table (PostgreSQL)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94476" y="5458968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991356" y="5550408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91356" y="55504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DETAIL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(GET) — Every Step, in Order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91356" y="1600200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91356" y="16002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/students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4476" y="2002536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91356" y="2093976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91356" y="20939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4476" y="2496312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91356" y="2587752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1F7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91356" y="258775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4476" y="2990088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1356" y="3081528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91356" y="30815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JpaRepository.findAll()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4476" y="3483864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1356" y="3575304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91356" y="35753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SELECT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4476" y="3977640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91356" y="4069080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91356" y="40690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94476" y="4471416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91356" y="4562856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1F7A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91356" y="456285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objects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4476" y="4965192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991356" y="5056632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6DB3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991356" y="50566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94476" y="5458968"/>
            <a:ext cx="0" cy="91440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991356" y="5550408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91356" y="55504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DETAIL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and DELETE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" y="21488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/students/{id}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45436" y="2537460"/>
            <a:ext cx="146304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91740" y="21488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6DB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91740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83380" y="2537460"/>
            <a:ext cx="146304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29684" y="21488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F7A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29684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21324" y="2537460"/>
            <a:ext cx="146304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67628" y="21488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6DB3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67628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 → modify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59268" y="2537460"/>
            <a:ext cx="146304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05572" y="21488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F7A4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5572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97212" y="2537460"/>
            <a:ext cx="146304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43516" y="21488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3516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42416" y="452628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" y="452628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/students/{id}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16936" y="4914900"/>
            <a:ext cx="182880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99816" y="452628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6DB33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099816" y="452628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74336" y="4914900"/>
            <a:ext cx="182880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57216" y="452628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1F7A4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157216" y="452628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31736" y="4914900"/>
            <a:ext cx="182880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14616" y="452628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6DB33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14616" y="452628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deleteById()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89136" y="4914900"/>
            <a:ext cx="182880" cy="0"/>
          </a:xfrm>
          <a:prstGeom prst="line">
            <a:avLst/>
          </a:prstGeom>
          <a:noFill/>
          <a:ln w="25400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272016" y="452628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72016" y="452628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has to look the record up first so it knows what to change; DELETE just needs the id.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— Why Bother?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should reject invalid input before it ever reaches business logic or the database.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what should be rejected: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43684" y="283464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43684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name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18204" y="2834640"/>
            <a:ext cx="1883664" cy="502920"/>
          </a:xfrm>
          <a:prstGeom prst="roundRect">
            <a:avLst>
              <a:gd name="adj" fmla="val 50000"/>
            </a:avLst>
          </a:prstGeom>
          <a:solidFill>
            <a:srgbClr val="6DB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18204" y="28346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below 16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0468" y="2834640"/>
            <a:ext cx="1883664" cy="5029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0468" y="28346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course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42732" y="2834640"/>
            <a:ext cx="2002536" cy="502920"/>
          </a:xfrm>
          <a:prstGeom prst="roundRect">
            <a:avLst>
              <a:gd name="adj" fmla="val 50000"/>
            </a:avLst>
          </a:prstGeom>
          <a:solidFill>
            <a:srgbClr val="6DB3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42732" y="283464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email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749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supports Jakarta Bean Validation — a standard set of annotations (@NotBlank, @Min, @Email, etc.) that do this checking for you.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 on StudentRequest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1087655"/>
            <a:ext cx="9601200" cy="5313145"/>
          </a:xfrm>
          <a:prstGeom prst="roundRect">
            <a:avLst>
              <a:gd name="adj" fmla="val 1481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1645920"/>
            <a:ext cx="9144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StudentRequest {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@NotBlank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name;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@Min(16) @Max(100)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Integer age;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@NotBlank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course;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@NotBlank @Email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email;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@Valid — The Branching Request Flow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validation check decides which of these two very different paths the request takes — invalid input never reaches the Service layer.</a:t>
            </a:r>
            <a:endParaRPr lang="en-US" sz="12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8240A0B-46E8-77AE-56BC-CB0FBEAB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70" y="1421240"/>
            <a:ext cx="10306580" cy="409596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PUTTING 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74321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Full Student Records </a:t>
            </a:r>
            <a:r>
              <a:rPr sz="2000" dirty="0">
                <a:solidFill>
                  <a:srgbClr val="232A34"/>
                </a:solidFill>
                <a:latin typeface="Aptos"/>
              </a:rPr>
              <a:t>Architecture</a:t>
            </a:r>
            <a:endParaRPr sz="16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1600" dirty="0">
              <a:solidFill>
                <a:srgbClr val="232A3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35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14DEE4-855C-F345-39AE-3C1E413A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8526"/>
            <a:ext cx="10690218" cy="41616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vs. Authorization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5727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Who are you?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9202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identity, typically via a username/password or a token.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53288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What are you allowed to do?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8803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permission for a specific action, once identity is known.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49300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sits in front of your Controllers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40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passes through a filter chain before it ever reaches your code.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45312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or unauthorized requests are rejected early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48006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Controller only ever sees requests that were allowed through.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BRIEF PREVIEW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4437" y="1670376"/>
            <a:ext cx="6020862" cy="31295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Security — Authentication &amp; Authorization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Authentication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Who are you? Confirms identity.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Authorization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What are you allowed to do? Confirms permission.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Security wraps around the core API as an additional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36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D64F15-2810-7ED7-1929-BF55F19F7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299" y="1400016"/>
            <a:ext cx="4959605" cy="33593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BRIEF PREVIEW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480695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JWT — Token-Based Access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IN" sz="2000" dirty="0">
              <a:solidFill>
                <a:srgbClr val="232A34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Once issued, the token itself proves who's calling — no need to log in again on every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37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66FDE2-14C5-7A48-072C-F16976529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443" y="1539778"/>
            <a:ext cx="4153113" cy="37784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BRIEF PREVIEW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426527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Async — Work That Can Wait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A34"/>
                </a:solidFill>
                <a:latin typeface="Aptos"/>
              </a:rPr>
              <a:t>Some work doesn't need to block the HTTP response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The client doesn't need to wait for it before getting an answer.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sz="2000" dirty="0">
              <a:solidFill>
                <a:srgbClr val="232A34"/>
              </a:solidFill>
              <a:latin typeface="Aptos"/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232A34"/>
                </a:solidFill>
                <a:latin typeface="Aptos"/>
              </a:rPr>
              <a:t>Example: audit logging or notifications after creating a student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The student is already saved — logging that fact can happen a moment later.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sz="2000" dirty="0">
              <a:solidFill>
                <a:srgbClr val="232A34"/>
              </a:solidFill>
              <a:latin typeface="Aptos"/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B2D4B"/>
                </a:solidFill>
                <a:latin typeface="Consolas"/>
              </a:rPr>
              <a:t>@Async can support this, when configured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Spring runs the annotated method on a separate thread.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dirty="0">
                <a:solidFill>
                  <a:srgbClr val="232A34"/>
                </a:solidFill>
                <a:latin typeface="Aptos"/>
              </a:rPr>
              <a:t>For now, just understand WHERE background work fits in the architecture — the implementation is taught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11183112" cy="5166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10698480" cy="3431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dirty="0">
                <a:solidFill>
                  <a:srgbClr val="232A34"/>
                </a:solidFill>
                <a:latin typeface="Aptos"/>
              </a:rPr>
              <a:t>Startup, Request, and Response — Side by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50" b="0">
                <a:solidFill>
                  <a:srgbClr val="5C6878"/>
                </a:solidFill>
                <a:latin typeface="Aptos"/>
              </a:rPr>
              <a:t>Spring Boot Core — Complete Flow with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50" b="0">
                <a:solidFill>
                  <a:srgbClr val="5C6878"/>
                </a:solidFill>
                <a:latin typeface="Aptos"/>
              </a:rPr>
              <a:t>39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6ED5F2-E316-9F8F-554F-843ED78CA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65" y="1711236"/>
            <a:ext cx="11087670" cy="343552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You Add the Starter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1678646"/>
            <a:ext cx="9601200" cy="2359152"/>
          </a:xfrm>
          <a:prstGeom prst="roundRect">
            <a:avLst>
              <a:gd name="adj" fmla="val 3636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20116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pom.xml --&gt;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&lt;artifactId&gt;spring-boot-starter-security&lt;/artifactId&gt;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160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this dependency is added, Spring Security locks down every endpoint by default and generates a temporary login page — nothing is public until you say so.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Access With SecurityFilterChain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1309036"/>
            <a:ext cx="9601200" cy="4268804"/>
          </a:xfrm>
          <a:prstGeom prst="roundRect">
            <a:avLst>
              <a:gd name="adj" fmla="val 1860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1691640"/>
            <a:ext cx="9144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SecurityFilterChain filterChain(HttpSecurity http) throws Exception {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.csrf(csrf -&gt; csrf.disable())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.authorizeHttpRequests(auth -&gt; auth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.requestMatchers("/auth/**").permitAll()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.anyRequest().authenticated()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http.build();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says: login/register routes are public, everything else requires authentication.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Store Plain-Text Passwords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91402" y="1234440"/>
            <a:ext cx="9889958" cy="4480560"/>
          </a:xfrm>
          <a:prstGeom prst="roundRect">
            <a:avLst>
              <a:gd name="adj" fmla="val 1778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1645920"/>
            <a:ext cx="9144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PasswordEncoder passwordEncoder() {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BCryptPasswordEncoder();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registering a user: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hashed = passwordEncoder.encode(rawPassword);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user.setPassword(hashed);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userRepository.save(user);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is a one-way hash — the original password can never be recovered from what's stored, only verified against.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and Login Flow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91356" y="164592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91356" y="16459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2084832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91356" y="2203704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6DB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91356" y="220370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 (BCrypt)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4476" y="2642616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91356" y="2761488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F7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91356" y="27614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user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4476" y="3200400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1356" y="3319272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6DB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91356" y="33192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4476" y="3758184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1356" y="3877056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91356" y="387705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4476" y="4315968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91356" y="443484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6DB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91356" y="44348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JWT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4476" y="4873752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91356" y="4992624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91356" y="49926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token to client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— JWT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a JWT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80160" y="1920240"/>
            <a:ext cx="9601200" cy="2468880"/>
          </a:xfrm>
          <a:prstGeom prst="roundRect">
            <a:avLst>
              <a:gd name="adj" fmla="val 2963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2103120"/>
            <a:ext cx="9144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header.payload.signature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header:    { "alg": "HS256", "typ": "JWT" }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  { "sub": "anita@example.com", "exp": 1730000000 }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signature: verifies the token hasn't been tampered with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stores this token and sends it back on every request — no need to log in again each time.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— JWT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Protected Request Is Verified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91356" y="164592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91356" y="16459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+ Authorization: Bearer &lt;token&gt;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4476" y="2084832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91356" y="2203704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6DB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91356" y="220370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intercepts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94476" y="2642616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91356" y="2761488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F7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91356" y="27614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94476" y="3200400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1356" y="3319272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6DB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91356" y="33192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not expired?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4476" y="3758184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1356" y="3877056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91356" y="387705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 populated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4476" y="4315968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91356" y="443484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6DB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91356" y="44348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94476" y="4873752"/>
            <a:ext cx="0" cy="118872"/>
          </a:xfrm>
          <a:prstGeom prst="line">
            <a:avLst/>
          </a:prstGeom>
          <a:noFill/>
          <a:ln w="22225">
            <a:solidFill>
              <a:srgbClr val="F2A5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91356" y="4992624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91356" y="49926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Repository → Database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6172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token is missing, invalid, or expired, the filter rejects the request before it ever reaches your Controller.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Architecture, Security Included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2A5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Filter Chain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011680"/>
            <a:ext cx="0" cy="27432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3317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F7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2834640"/>
            <a:ext cx="0" cy="27432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315468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6DB3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056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3657600"/>
            <a:ext cx="0" cy="27432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80560" y="397764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F7A4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4480560"/>
            <a:ext cx="0" cy="27432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48006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1F7F3"/>
          </a:solidFill>
          <a:ln w="12700">
            <a:solidFill>
              <a:srgbClr val="5B6B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4800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wraps around the whole flow at the very front — by the time a request reaches the Controller, it has already been authenticated.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 Has One Job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9659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+ DI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965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object management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9659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965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23865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3865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business logic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3865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3865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persistence access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8072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28072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table mapping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8072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28072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safer input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2278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2278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authentication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2278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32278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stateless identity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3046</Words>
  <Application>Microsoft Office PowerPoint</Application>
  <PresentationFormat>Widescreen</PresentationFormat>
  <Paragraphs>532</Paragraphs>
  <Slides>45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Prasanthi Y</cp:lastModifiedBy>
  <cp:revision>3</cp:revision>
  <dcterms:created xsi:type="dcterms:W3CDTF">2026-09-21T03:58:26Z</dcterms:created>
  <dcterms:modified xsi:type="dcterms:W3CDTF">2026-09-21T04:24:44Z</dcterms:modified>
</cp:coreProperties>
</file>